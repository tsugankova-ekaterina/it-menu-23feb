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</p:showPr>
  <p:clrMru>
    <a:srgbClr val="FCF72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73" autoAdjust="0"/>
  </p:normalViewPr>
  <p:slideViewPr>
    <p:cSldViewPr>
      <p:cViewPr>
        <p:scale>
          <a:sx n="100" d="100"/>
          <a:sy n="100" d="100"/>
        </p:scale>
        <p:origin x="-946" y="-25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0" y="-1"/>
            <a:ext cx="365760" cy="5140842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>
          <a:xfrm>
            <a:off x="309558" y="510358"/>
            <a:ext cx="45720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269073" y="510358"/>
            <a:ext cx="27432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250020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Прямоугольник 41"/>
          <p:cNvSpPr/>
          <p:nvPr/>
        </p:nvSpPr>
        <p:spPr>
          <a:xfrm>
            <a:off x="221768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914400" y="3257550"/>
            <a:ext cx="7772400" cy="1481328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914400" y="2125980"/>
            <a:ext cx="7772400" cy="113157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56" name="Прямоугольник 55"/>
          <p:cNvSpPr/>
          <p:nvPr/>
        </p:nvSpPr>
        <p:spPr>
          <a:xfrm>
            <a:off x="255291" y="3785546"/>
            <a:ext cx="73152" cy="126873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Прямоугольник 64"/>
          <p:cNvSpPr/>
          <p:nvPr/>
        </p:nvSpPr>
        <p:spPr>
          <a:xfrm>
            <a:off x="255291" y="3597614"/>
            <a:ext cx="73152" cy="1714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Прямоугольник 65"/>
          <p:cNvSpPr/>
          <p:nvPr/>
        </p:nvSpPr>
        <p:spPr>
          <a:xfrm>
            <a:off x="255291" y="3478264"/>
            <a:ext cx="73152" cy="10287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Прямоугольник 66"/>
          <p:cNvSpPr/>
          <p:nvPr/>
        </p:nvSpPr>
        <p:spPr>
          <a:xfrm>
            <a:off x="255291" y="3406919"/>
            <a:ext cx="73152" cy="5486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/>
          <p:cNvSpPr>
            <a:spLocks/>
          </p:cNvSpPr>
          <p:nvPr/>
        </p:nvSpPr>
        <p:spPr bwMode="auto">
          <a:xfrm>
            <a:off x="4828952" y="805416"/>
            <a:ext cx="4322136" cy="4343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Полилиния 14"/>
          <p:cNvSpPr>
            <a:spLocks/>
          </p:cNvSpPr>
          <p:nvPr/>
        </p:nvSpPr>
        <p:spPr bwMode="auto">
          <a:xfrm>
            <a:off x="373966" y="0"/>
            <a:ext cx="5514536" cy="4961499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Полилиния 12"/>
          <p:cNvSpPr>
            <a:spLocks/>
          </p:cNvSpPr>
          <p:nvPr/>
        </p:nvSpPr>
        <p:spPr bwMode="auto">
          <a:xfrm rot="5236414">
            <a:off x="4976478" y="964110"/>
            <a:ext cx="30861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5943600" y="0"/>
            <a:ext cx="2743200" cy="3200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Полилиния 16"/>
          <p:cNvSpPr>
            <a:spLocks/>
          </p:cNvSpPr>
          <p:nvPr/>
        </p:nvSpPr>
        <p:spPr bwMode="auto">
          <a:xfrm>
            <a:off x="5943600" y="3200400"/>
            <a:ext cx="3200400" cy="8572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Полилиния 17"/>
          <p:cNvSpPr>
            <a:spLocks/>
          </p:cNvSpPr>
          <p:nvPr/>
        </p:nvSpPr>
        <p:spPr bwMode="auto">
          <a:xfrm>
            <a:off x="5943600" y="0"/>
            <a:ext cx="1371600" cy="3200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Полилиния 18"/>
          <p:cNvSpPr>
            <a:spLocks/>
          </p:cNvSpPr>
          <p:nvPr/>
        </p:nvSpPr>
        <p:spPr bwMode="auto">
          <a:xfrm>
            <a:off x="5948364" y="3184923"/>
            <a:ext cx="2090737" cy="195857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Полилиния 19"/>
          <p:cNvSpPr>
            <a:spLocks/>
          </p:cNvSpPr>
          <p:nvPr/>
        </p:nvSpPr>
        <p:spPr bwMode="auto">
          <a:xfrm>
            <a:off x="5943600" y="3200400"/>
            <a:ext cx="16002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Полилиния 20"/>
          <p:cNvSpPr>
            <a:spLocks/>
          </p:cNvSpPr>
          <p:nvPr/>
        </p:nvSpPr>
        <p:spPr bwMode="auto">
          <a:xfrm>
            <a:off x="5943600" y="1028700"/>
            <a:ext cx="3200400" cy="21717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Полилиния 21"/>
          <p:cNvSpPr>
            <a:spLocks/>
          </p:cNvSpPr>
          <p:nvPr/>
        </p:nvSpPr>
        <p:spPr bwMode="auto">
          <a:xfrm>
            <a:off x="5943600" y="1314450"/>
            <a:ext cx="3200400" cy="18859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Полилиния 22"/>
          <p:cNvSpPr>
            <a:spLocks/>
          </p:cNvSpPr>
          <p:nvPr/>
        </p:nvSpPr>
        <p:spPr bwMode="auto">
          <a:xfrm>
            <a:off x="990600" y="3200400"/>
            <a:ext cx="49530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Полилиния 23"/>
          <p:cNvSpPr>
            <a:spLocks/>
          </p:cNvSpPr>
          <p:nvPr/>
        </p:nvSpPr>
        <p:spPr bwMode="auto">
          <a:xfrm>
            <a:off x="533400" y="3200400"/>
            <a:ext cx="53340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Полилиния 24"/>
          <p:cNvSpPr>
            <a:spLocks/>
          </p:cNvSpPr>
          <p:nvPr/>
        </p:nvSpPr>
        <p:spPr bwMode="auto">
          <a:xfrm>
            <a:off x="366824" y="1828800"/>
            <a:ext cx="5638800" cy="1371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Полилиния 25"/>
          <p:cNvSpPr>
            <a:spLocks/>
          </p:cNvSpPr>
          <p:nvPr/>
        </p:nvSpPr>
        <p:spPr bwMode="auto">
          <a:xfrm>
            <a:off x="366824" y="1600200"/>
            <a:ext cx="5638800" cy="1600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Полилиния 26"/>
          <p:cNvSpPr>
            <a:spLocks/>
          </p:cNvSpPr>
          <p:nvPr/>
        </p:nvSpPr>
        <p:spPr bwMode="auto">
          <a:xfrm>
            <a:off x="4572000" y="3200400"/>
            <a:ext cx="13716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6902" y="1013754"/>
            <a:ext cx="5718048" cy="733115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63160" y="301698"/>
            <a:ext cx="8503920" cy="664699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902" y="384048"/>
            <a:ext cx="8156448" cy="58293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 flipH="1">
            <a:off x="371538" y="510358"/>
            <a:ext cx="27432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оугольник 8"/>
          <p:cNvSpPr/>
          <p:nvPr/>
        </p:nvSpPr>
        <p:spPr>
          <a:xfrm flipH="1">
            <a:off x="411109" y="510358"/>
            <a:ext cx="27432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 flipH="1">
            <a:off x="448450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H="1">
            <a:off x="476702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00478" y="510358"/>
            <a:ext cx="36576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8229600" cy="6858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64344" y="1327876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55344" y="1327876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0" y="301699"/>
            <a:ext cx="8867080" cy="664699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4" y="384048"/>
            <a:ext cx="7772400" cy="6858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57312"/>
            <a:ext cx="4040188" cy="47982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1357312"/>
            <a:ext cx="4041775" cy="47982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844278"/>
            <a:ext cx="4040188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844278"/>
            <a:ext cx="4041775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87790" y="510358"/>
            <a:ext cx="45720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7305" y="510358"/>
            <a:ext cx="27432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28252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Прямоугольник 19"/>
          <p:cNvSpPr/>
          <p:nvPr/>
        </p:nvSpPr>
        <p:spPr>
          <a:xfrm flipH="1">
            <a:off x="149770" y="510358"/>
            <a:ext cx="27432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Прямоугольник 20"/>
          <p:cNvSpPr/>
          <p:nvPr/>
        </p:nvSpPr>
        <p:spPr>
          <a:xfrm flipH="1">
            <a:off x="189341" y="510358"/>
            <a:ext cx="27432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 flipH="1">
            <a:off x="226682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 flipH="1">
            <a:off x="254934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278710" y="510358"/>
            <a:ext cx="36576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384048"/>
            <a:ext cx="7772400" cy="6858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04787"/>
            <a:ext cx="8229600" cy="871538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076325"/>
            <a:ext cx="2514600" cy="3429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429000" y="1076325"/>
            <a:ext cx="5486400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68032" y="0"/>
            <a:ext cx="8778240" cy="140852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363195" y="1413771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/>
          <p:cNvGrpSpPr/>
          <p:nvPr/>
        </p:nvGrpSpPr>
        <p:grpSpPr>
          <a:xfrm rot="5400000">
            <a:off x="8531177" y="898342"/>
            <a:ext cx="99572" cy="128466"/>
            <a:chOff x="6668087" y="1297746"/>
            <a:chExt cx="161840" cy="156602"/>
          </a:xfrm>
        </p:grpSpPr>
        <p:cxnSp>
          <p:nvCxnSpPr>
            <p:cNvPr id="15" name="Прямая соединительная линия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grayWhite">
          <a:xfrm>
            <a:off x="914400" y="330939"/>
            <a:ext cx="6858000" cy="526312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68032" y="1420336"/>
            <a:ext cx="8778240" cy="37201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862608"/>
            <a:ext cx="6858000" cy="51435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grpSp>
        <p:nvGrpSpPr>
          <p:cNvPr id="14" name="Группа 13"/>
          <p:cNvGrpSpPr/>
          <p:nvPr/>
        </p:nvGrpSpPr>
        <p:grpSpPr>
          <a:xfrm rot="5400000">
            <a:off x="8683577" y="1012642"/>
            <a:ext cx="99572" cy="128466"/>
            <a:chOff x="6668087" y="1297746"/>
            <a:chExt cx="161840" cy="156602"/>
          </a:xfrm>
        </p:grpSpPr>
        <p:cxnSp>
          <p:nvCxnSpPr>
            <p:cNvPr id="11" name="Прямая соединительная линия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/>
          <p:cNvGrpSpPr/>
          <p:nvPr/>
        </p:nvGrpSpPr>
        <p:grpSpPr>
          <a:xfrm rot="5400000">
            <a:off x="8336684" y="1090014"/>
            <a:ext cx="99572" cy="128466"/>
            <a:chOff x="6668087" y="1297746"/>
            <a:chExt cx="161840" cy="156602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77000" y="41625"/>
            <a:ext cx="2133600" cy="273844"/>
          </a:xfrm>
        </p:spPr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41625"/>
            <a:ext cx="5562600" cy="273844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41625"/>
            <a:ext cx="457200" cy="273844"/>
          </a:xfrm>
        </p:spPr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1981200" cy="4388644"/>
          </a:xfrm>
        </p:spPr>
        <p:txBody>
          <a:bodyPr vert="eaVert"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05980"/>
            <a:ext cx="58674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1"/>
            <a:ext cx="365760" cy="5140842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255291" y="3785546"/>
            <a:ext cx="73152" cy="126873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255291" y="3597614"/>
            <a:ext cx="73152" cy="1714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255291" y="3478264"/>
            <a:ext cx="73152" cy="10287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255291" y="3406919"/>
            <a:ext cx="73152" cy="5486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09558" y="510358"/>
            <a:ext cx="45720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69073" y="510358"/>
            <a:ext cx="27432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50020" y="510358"/>
            <a:ext cx="9144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221768" y="510358"/>
            <a:ext cx="9144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384048"/>
            <a:ext cx="7772400" cy="6858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337670"/>
            <a:ext cx="7772400" cy="3429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77000" y="4812507"/>
            <a:ext cx="21336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DDF514A3-03E2-45B3-83CB-A28EB472D33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4812507"/>
            <a:ext cx="556260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10600" y="4812507"/>
            <a:ext cx="4572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7953054B-D952-4060-BC23-D94D4B8DB34A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фото\23\фото\фото\bea20d7ae02830dc776a72aeca740fa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0"/>
            <a:ext cx="4429124" cy="553388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71472" y="71420"/>
            <a:ext cx="45005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Candara Light" pitchFamily="34" charset="0"/>
              </a:rPr>
              <a:t>Лаборатория 	света</a:t>
            </a:r>
            <a:endParaRPr lang="ru-RU" sz="4400" dirty="0">
              <a:latin typeface="Candara Light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720" y="1571618"/>
            <a:ext cx="43577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Candara Light" pitchFamily="34" charset="0"/>
              </a:rPr>
              <a:t>Процесс съемки состоит из этапов:</a:t>
            </a:r>
          </a:p>
          <a:p>
            <a:pPr marL="342900" indent="-342900">
              <a:buAutoNum type="arabicPeriod"/>
            </a:pPr>
            <a:r>
              <a:rPr lang="ru-RU" sz="2000" dirty="0" smtClean="0">
                <a:latin typeface="Candara Light" pitchFamily="34" charset="0"/>
              </a:rPr>
              <a:t>Позирование и настройка резкости</a:t>
            </a:r>
          </a:p>
          <a:p>
            <a:pPr marL="342900" indent="-342900">
              <a:buAutoNum type="arabicPeriod"/>
            </a:pPr>
            <a:r>
              <a:rPr lang="ru-RU" sz="2000" dirty="0" smtClean="0">
                <a:latin typeface="Candara Light" pitchFamily="34" charset="0"/>
              </a:rPr>
              <a:t>Спуск затвора и вспышка</a:t>
            </a:r>
          </a:p>
          <a:p>
            <a:pPr marL="342900" indent="-342900"/>
            <a:r>
              <a:rPr lang="ru-RU" sz="2000" dirty="0">
                <a:latin typeface="Candara Light" pitchFamily="34" charset="0"/>
              </a:rPr>
              <a:t>	</a:t>
            </a:r>
            <a:r>
              <a:rPr lang="ru-RU" sz="2000" dirty="0" smtClean="0">
                <a:latin typeface="Candara Light" pitchFamily="34" charset="0"/>
              </a:rPr>
              <a:t>ВАЖНО </a:t>
            </a:r>
            <a:r>
              <a:rPr lang="ru-RU" sz="2000" dirty="0">
                <a:latin typeface="Candara Light" pitchFamily="34" charset="0"/>
              </a:rPr>
              <a:t>с</a:t>
            </a:r>
            <a:r>
              <a:rPr lang="ru-RU" sz="2000" dirty="0" smtClean="0">
                <a:latin typeface="Candara Light" pitchFamily="34" charset="0"/>
              </a:rPr>
              <a:t>тоять неподвижно до момента закрытия затвора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2000" dirty="0" smtClean="0">
                <a:latin typeface="Candara Light" pitchFamily="34" charset="0"/>
              </a:rPr>
              <a:t>Рисуем светом </a:t>
            </a:r>
            <a:r>
              <a:rPr lang="ru-RU" sz="2000" dirty="0" smtClean="0">
                <a:latin typeface="Candara Light" pitchFamily="34" charset="0"/>
                <a:sym typeface="Wingdings" pitchFamily="2" charset="2"/>
              </a:rPr>
              <a:t> 8-10 секунд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2000" dirty="0" smtClean="0">
                <a:latin typeface="Candara Light" pitchFamily="34" charset="0"/>
                <a:sym typeface="Wingdings" pitchFamily="2" charset="2"/>
              </a:rPr>
              <a:t>Затвор закрывается с характерным звуком – </a:t>
            </a:r>
          </a:p>
          <a:p>
            <a:pPr marL="342900" indent="-342900"/>
            <a:r>
              <a:rPr lang="ru-RU" sz="2000" dirty="0">
                <a:latin typeface="Candara Light" pitchFamily="34" charset="0"/>
                <a:sym typeface="Wingdings" pitchFamily="2" charset="2"/>
              </a:rPr>
              <a:t>	</a:t>
            </a:r>
            <a:r>
              <a:rPr lang="ru-RU" sz="2000" dirty="0" smtClean="0">
                <a:latin typeface="Candara Light" pitchFamily="34" charset="0"/>
                <a:sym typeface="Wingdings" pitchFamily="2" charset="2"/>
              </a:rPr>
              <a:t>кадр готов!)</a:t>
            </a:r>
            <a:endParaRPr lang="ru-RU" sz="2000" dirty="0" smtClean="0">
              <a:latin typeface="Candara Light" pitchFamily="34" charset="0"/>
            </a:endParaRPr>
          </a:p>
        </p:txBody>
      </p:sp>
    </p:spTree>
  </p:cSld>
  <p:clrMapOvr>
    <a:masterClrMapping/>
  </p:clrMapOvr>
  <p:transition spd="med" advTm="15000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00628" y="71420"/>
            <a:ext cx="45005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Candara Light" pitchFamily="34" charset="0"/>
              </a:rPr>
              <a:t>Лаборатория 	света</a:t>
            </a:r>
            <a:endParaRPr lang="ru-RU" sz="4400" dirty="0">
              <a:latin typeface="Candara Light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4876" y="1571618"/>
            <a:ext cx="43577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Candara Light" pitchFamily="34" charset="0"/>
              </a:rPr>
              <a:t>Процесс съемки состоит из этапов:</a:t>
            </a:r>
          </a:p>
          <a:p>
            <a:pPr marL="342900" indent="-342900">
              <a:buAutoNum type="arabicPeriod"/>
            </a:pPr>
            <a:r>
              <a:rPr lang="ru-RU" sz="2000" dirty="0" smtClean="0">
                <a:latin typeface="Candara Light" pitchFamily="34" charset="0"/>
              </a:rPr>
              <a:t>Позирование и настройка резкости</a:t>
            </a:r>
          </a:p>
          <a:p>
            <a:pPr marL="342900" indent="-342900">
              <a:buAutoNum type="arabicPeriod"/>
            </a:pPr>
            <a:r>
              <a:rPr lang="ru-RU" sz="2000" dirty="0" smtClean="0">
                <a:latin typeface="Candara Light" pitchFamily="34" charset="0"/>
              </a:rPr>
              <a:t>Спуск затвора и вспышка</a:t>
            </a:r>
          </a:p>
          <a:p>
            <a:pPr marL="342900" indent="-342900"/>
            <a:r>
              <a:rPr lang="ru-RU" sz="2000" dirty="0">
                <a:latin typeface="Candara Light" pitchFamily="34" charset="0"/>
              </a:rPr>
              <a:t>	</a:t>
            </a:r>
            <a:r>
              <a:rPr lang="ru-RU" sz="2000" dirty="0" smtClean="0">
                <a:latin typeface="Candara Light" pitchFamily="34" charset="0"/>
              </a:rPr>
              <a:t>ВАЖНО </a:t>
            </a:r>
            <a:r>
              <a:rPr lang="ru-RU" sz="2000" dirty="0">
                <a:latin typeface="Candara Light" pitchFamily="34" charset="0"/>
              </a:rPr>
              <a:t>с</a:t>
            </a:r>
            <a:r>
              <a:rPr lang="ru-RU" sz="2000" dirty="0" smtClean="0">
                <a:latin typeface="Candara Light" pitchFamily="34" charset="0"/>
              </a:rPr>
              <a:t>тоять неподвижно до момента закрытия затвора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2000" dirty="0" smtClean="0">
                <a:latin typeface="Candara Light" pitchFamily="34" charset="0"/>
              </a:rPr>
              <a:t>Рисуем светом </a:t>
            </a:r>
            <a:r>
              <a:rPr lang="ru-RU" sz="2000" dirty="0" smtClean="0">
                <a:latin typeface="Candara Light" pitchFamily="34" charset="0"/>
                <a:sym typeface="Wingdings" pitchFamily="2" charset="2"/>
              </a:rPr>
              <a:t> 8-10 секунд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2000" dirty="0" smtClean="0">
                <a:latin typeface="Candara Light" pitchFamily="34" charset="0"/>
                <a:sym typeface="Wingdings" pitchFamily="2" charset="2"/>
              </a:rPr>
              <a:t>Затвор закрывается с характерным звуком – </a:t>
            </a:r>
          </a:p>
          <a:p>
            <a:pPr marL="342900" indent="-342900"/>
            <a:r>
              <a:rPr lang="ru-RU" sz="2000" dirty="0" smtClean="0">
                <a:latin typeface="Candara Light" pitchFamily="34" charset="0"/>
                <a:sym typeface="Wingdings" pitchFamily="2" charset="2"/>
              </a:rPr>
              <a:t>	кадр готов!)</a:t>
            </a:r>
            <a:endParaRPr lang="ru-RU" sz="2000" dirty="0" smtClean="0">
              <a:latin typeface="Candara Light" pitchFamily="34" charset="0"/>
            </a:endParaRPr>
          </a:p>
        </p:txBody>
      </p:sp>
      <p:pic>
        <p:nvPicPr>
          <p:cNvPr id="2050" name="Picture 2" descr="D:\фото\23\фото\фото\d9d035b40dd759c22ad4b27726cf5ce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85785" y="-500084"/>
            <a:ext cx="4893281" cy="5643584"/>
          </a:xfrm>
          <a:prstGeom prst="rect">
            <a:avLst/>
          </a:prstGeom>
          <a:noFill/>
        </p:spPr>
      </p:pic>
    </p:spTree>
  </p:cSld>
  <p:clrMapOvr>
    <a:masterClrMapping/>
  </p:clrMapOvr>
  <p:transition advTm="15000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фото\23\фото\фото\cb63e864c79faf2d6786ed349701c59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14346" y="-285770"/>
            <a:ext cx="5537214" cy="3691476"/>
          </a:xfrm>
          <a:prstGeom prst="rect">
            <a:avLst/>
          </a:prstGeom>
          <a:noFill/>
        </p:spPr>
      </p:pic>
      <p:pic>
        <p:nvPicPr>
          <p:cNvPr id="3075" name="Picture 3" descr="D:\фото\23\фото\фото\9e50fc1cb62595f3691d20578f4260e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928808"/>
            <a:ext cx="5127625" cy="3367087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3076" name="Picture 4" descr="D:\фото\23\фото\фото\photo_2026-02-13_16-24-20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142858"/>
            <a:ext cx="2857504" cy="2286003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3077" name="Picture 5" descr="D:\фото\23\фото\фото\3b02868da7e29aa0653d4bf161635367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3071816"/>
            <a:ext cx="2757507" cy="2297922"/>
          </a:xfrm>
          <a:prstGeom prst="rect">
            <a:avLst/>
          </a:prstGeom>
          <a:noFill/>
          <a:effectLst>
            <a:softEdge rad="317500"/>
          </a:effectLst>
        </p:spPr>
      </p:pic>
    </p:spTree>
  </p:cSld>
  <p:clrMapOvr>
    <a:masterClrMapping/>
  </p:clrMapOvr>
  <p:transition advTm="15000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D:\фото\23\фото\фото\videoframe_7453.png"/>
          <p:cNvPicPr>
            <a:picLocks noChangeAspect="1" noChangeArrowheads="1"/>
          </p:cNvPicPr>
          <p:nvPr/>
        </p:nvPicPr>
        <p:blipFill>
          <a:blip r:embed="rId2"/>
          <a:srcRect t="5454" b="16818"/>
          <a:stretch>
            <a:fillRect/>
          </a:stretch>
        </p:blipFill>
        <p:spPr bwMode="auto">
          <a:xfrm>
            <a:off x="1000100" y="500048"/>
            <a:ext cx="2946794" cy="4071966"/>
          </a:xfrm>
          <a:prstGeom prst="rect">
            <a:avLst/>
          </a:prstGeom>
          <a:noFill/>
          <a:effectLst>
            <a:glow rad="228600">
              <a:schemeClr val="accent3">
                <a:lumMod val="75000"/>
                <a:alpha val="40000"/>
              </a:schemeClr>
            </a:glow>
            <a:softEdge rad="127000"/>
          </a:effectLst>
        </p:spPr>
      </p:pic>
      <p:pic>
        <p:nvPicPr>
          <p:cNvPr id="4102" name="Picture 6" descr="D:\фото\23\фото\фото\videoframe_1334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142858"/>
            <a:ext cx="3857652" cy="4822065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  <p:transition advTm="10000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етро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Метро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30</Words>
  <Application>Microsoft Office PowerPoint</Application>
  <PresentationFormat>Экран (16:9)</PresentationFormat>
  <Paragraphs>16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Метро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Екатерина Цыганкова</dc:creator>
  <cp:lastModifiedBy>Екатерина Цыганкова</cp:lastModifiedBy>
  <cp:revision>10</cp:revision>
  <dcterms:created xsi:type="dcterms:W3CDTF">2026-02-16T18:03:45Z</dcterms:created>
  <dcterms:modified xsi:type="dcterms:W3CDTF">2026-02-16T19:05:55Z</dcterms:modified>
</cp:coreProperties>
</file>